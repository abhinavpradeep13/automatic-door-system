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8" r:id="rId11"/>
  </p:sldIdLst>
  <p:sldSz cx="18288000" cy="10287000"/>
  <p:notesSz cx="6858000" cy="9144000"/>
  <p:embeddedFontLst>
    <p:embeddedFont>
      <p:font typeface="Clear Sans" panose="020B0604020202020204" charset="0"/>
      <p:regular r:id="rId12"/>
    </p:embeddedFont>
    <p:embeddedFont>
      <p:font typeface="Clear Sans Bold" panose="020B0604020202020204" charset="0"/>
      <p:regular r:id="rId13"/>
    </p:embeddedFont>
    <p:embeddedFont>
      <p:font typeface="Clear Sans Medium" panose="020B0604020202020204" charset="0"/>
      <p:regular r:id="rId14"/>
    </p:embeddedFont>
    <p:embeddedFont>
      <p:font typeface="Tenor Sans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6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72950" y="0"/>
            <a:ext cx="6115050" cy="10287000"/>
            <a:chOff x="0" y="0"/>
            <a:chExt cx="94738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7381" cy="1593725"/>
            </a:xfrm>
            <a:custGeom>
              <a:avLst/>
              <a:gdLst/>
              <a:ahLst/>
              <a:cxnLst/>
              <a:rect l="l" t="t" r="r" b="b"/>
              <a:pathLst>
                <a:path w="947381" h="1593725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58" b="-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1562100"/>
            <a:ext cx="9763125" cy="5254119"/>
            <a:chOff x="0" y="0"/>
            <a:chExt cx="13017500" cy="7005492"/>
          </a:xfrm>
        </p:grpSpPr>
        <p:sp>
          <p:nvSpPr>
            <p:cNvPr id="5" name="TextBox 5"/>
            <p:cNvSpPr txBox="1"/>
            <p:nvPr/>
          </p:nvSpPr>
          <p:spPr>
            <a:xfrm>
              <a:off x="0" y="4727729"/>
              <a:ext cx="130175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4A90E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PURPOSE AND OBJECTIVES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5921547"/>
              <a:ext cx="13017500" cy="1083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project aims to design an </a:t>
              </a:r>
              <a:r>
                <a:rPr lang="en-US" sz="2400" b="1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automatic door system</a:t>
              </a:r>
              <a:r>
                <a:rPr lang="en-US" sz="24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utilizing a servo motor and IR sensor, enhancing convenience in various applications.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3017500" cy="4223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</a:pPr>
              <a:r>
                <a:rPr lang="en-US" sz="6999" spc="-139">
                  <a:solidFill>
                    <a:srgbClr val="FFFFFF"/>
                  </a:solidFill>
                  <a:latin typeface="Tenor Sans"/>
                  <a:ea typeface="Tenor Sans"/>
                  <a:cs typeface="Tenor Sans"/>
                  <a:sym typeface="Tenor Sans"/>
                </a:rPr>
                <a:t>Introduction to the Automatic Door System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105025" y="1562100"/>
            <a:ext cx="14077950" cy="1055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</a:pPr>
            <a:r>
              <a:rPr lang="en-US" sz="6999" spc="-139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Fundamentals of Control Systems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66750" y="5143500"/>
            <a:ext cx="5448300" cy="2070114"/>
            <a:chOff x="0" y="0"/>
            <a:chExt cx="7264400" cy="2760151"/>
          </a:xfrm>
        </p:grpSpPr>
        <p:sp>
          <p:nvSpPr>
            <p:cNvPr id="5" name="TextBox 5"/>
            <p:cNvSpPr txBox="1"/>
            <p:nvPr/>
          </p:nvSpPr>
          <p:spPr>
            <a:xfrm>
              <a:off x="0" y="-47625"/>
              <a:ext cx="72644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 b="1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DEFINITION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190220"/>
              <a:ext cx="7264400" cy="15699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 control system is a set of devices that manage, command, direct, or regulate the behavior of other devices or systems.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19850" y="5143500"/>
            <a:ext cx="5448300" cy="2470164"/>
            <a:chOff x="0" y="0"/>
            <a:chExt cx="7264400" cy="3293551"/>
          </a:xfrm>
        </p:grpSpPr>
        <p:sp>
          <p:nvSpPr>
            <p:cNvPr id="8" name="TextBox 8"/>
            <p:cNvSpPr txBox="1"/>
            <p:nvPr/>
          </p:nvSpPr>
          <p:spPr>
            <a:xfrm>
              <a:off x="0" y="-47625"/>
              <a:ext cx="72644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 b="1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OPEN-LOOP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190220"/>
              <a:ext cx="7264400" cy="2103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An open-loop control system operates without feedback, meaning the output is not compared to the input for adjustments or corrections.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172950" y="5143500"/>
            <a:ext cx="5448300" cy="2470164"/>
            <a:chOff x="0" y="0"/>
            <a:chExt cx="7264400" cy="3293551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47625"/>
              <a:ext cx="72644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 b="1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CLOSED-LOOP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190220"/>
              <a:ext cx="7264400" cy="2103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 closed-loop control system uses feedback to compare the actual output with the desired output, allowing for automatic corrections and adjustments.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72950" y="0"/>
            <a:ext cx="6115050" cy="10287000"/>
            <a:chOff x="0" y="0"/>
            <a:chExt cx="94738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7381" cy="1593725"/>
            </a:xfrm>
            <a:custGeom>
              <a:avLst/>
              <a:gdLst/>
              <a:ahLst/>
              <a:cxnLst/>
              <a:rect l="l" t="t" r="r" b="b"/>
              <a:pathLst>
                <a:path w="947381" h="1593725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58" b="-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1562100"/>
            <a:ext cx="9763125" cy="5651629"/>
            <a:chOff x="0" y="0"/>
            <a:chExt cx="13017500" cy="7535505"/>
          </a:xfrm>
        </p:grpSpPr>
        <p:sp>
          <p:nvSpPr>
            <p:cNvPr id="5" name="TextBox 5"/>
            <p:cNvSpPr txBox="1"/>
            <p:nvPr/>
          </p:nvSpPr>
          <p:spPr>
            <a:xfrm>
              <a:off x="0" y="4727729"/>
              <a:ext cx="13017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  <a:spcBef>
                  <a:spcPct val="0"/>
                </a:spcBef>
              </a:pPr>
              <a:r>
                <a:rPr lang="en-US" sz="2599" b="1">
                  <a:solidFill>
                    <a:srgbClr val="4A90E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DETECTING PRESENCE AND MOTION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5965574"/>
              <a:ext cx="13017500" cy="15699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IR sensor detects nearby presence or motion using infrared light, ensuring reliable operation in various environments for automatic door systems.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3017500" cy="4223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</a:pPr>
              <a:r>
                <a:rPr lang="en-US" sz="6999" spc="-139">
                  <a:solidFill>
                    <a:srgbClr val="FFFFFF"/>
                  </a:solidFill>
                  <a:latin typeface="Tenor Sans"/>
                  <a:ea typeface="Tenor Sans"/>
                  <a:cs typeface="Tenor Sans"/>
                  <a:sym typeface="Tenor Sans"/>
                </a:rPr>
                <a:t>Overview of Infrared (IR) Sensor Functionality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72950" y="0"/>
            <a:ext cx="6115050" cy="10287000"/>
            <a:chOff x="0" y="0"/>
            <a:chExt cx="94738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7381" cy="1593725"/>
            </a:xfrm>
            <a:custGeom>
              <a:avLst/>
              <a:gdLst/>
              <a:ahLst/>
              <a:cxnLst/>
              <a:rect l="l" t="t" r="r" b="b"/>
              <a:pathLst>
                <a:path w="947381" h="1593725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58" b="-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1562100"/>
            <a:ext cx="9763125" cy="5886579"/>
            <a:chOff x="0" y="0"/>
            <a:chExt cx="13017500" cy="7848773"/>
          </a:xfrm>
        </p:grpSpPr>
        <p:sp>
          <p:nvSpPr>
            <p:cNvPr id="5" name="TextBox 5"/>
            <p:cNvSpPr txBox="1"/>
            <p:nvPr/>
          </p:nvSpPr>
          <p:spPr>
            <a:xfrm>
              <a:off x="0" y="4727729"/>
              <a:ext cx="13017500" cy="5911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79"/>
                </a:lnSpc>
                <a:spcBef>
                  <a:spcPct val="0"/>
                </a:spcBef>
              </a:pPr>
              <a:r>
                <a:rPr lang="en-US" sz="2699" b="1">
                  <a:solidFill>
                    <a:srgbClr val="4A90E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ESSENTIAL ACTUATOR COMPONENT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5987587"/>
              <a:ext cx="13017500" cy="18611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servo motor effectively controls door movement, allowing for precise </a:t>
              </a:r>
              <a:r>
                <a:rPr lang="en-US" sz="2699" b="1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opening and closing</a:t>
              </a:r>
              <a:r>
                <a:rPr lang="en-US" sz="26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based on signals from the IR sensor.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3017500" cy="4223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</a:pPr>
              <a:r>
                <a:rPr lang="en-US" sz="6999" spc="-139">
                  <a:solidFill>
                    <a:srgbClr val="FFFFFF"/>
                  </a:solidFill>
                  <a:latin typeface="Tenor Sans"/>
                  <a:ea typeface="Tenor Sans"/>
                  <a:cs typeface="Tenor Sans"/>
                  <a:sym typeface="Tenor Sans"/>
                </a:rPr>
                <a:t>Servo Motor Functionality in Door Systems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02817" y="133221"/>
            <a:ext cx="11587092" cy="10153779"/>
            <a:chOff x="0" y="0"/>
            <a:chExt cx="15449455" cy="13538372"/>
          </a:xfrm>
        </p:grpSpPr>
        <p:sp>
          <p:nvSpPr>
            <p:cNvPr id="5" name="TextBox 5"/>
            <p:cNvSpPr txBox="1"/>
            <p:nvPr/>
          </p:nvSpPr>
          <p:spPr>
            <a:xfrm>
              <a:off x="341695" y="4727729"/>
              <a:ext cx="13017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  <a:spcBef>
                  <a:spcPct val="0"/>
                </a:spcBef>
              </a:pPr>
              <a:r>
                <a:rPr lang="en-US" sz="2599" b="1">
                  <a:solidFill>
                    <a:srgbClr val="4A90E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KEY FEATURES AND FUNCTIONALITY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5804901"/>
              <a:ext cx="15449455" cy="77334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49"/>
                </a:lnSpc>
                <a:spcBef>
                  <a:spcPct val="0"/>
                </a:spcBef>
              </a:pPr>
              <a:r>
                <a:rPr lang="en-US" sz="2249" dirty="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PIC16F877A microcontroller processes </a:t>
              </a:r>
              <a:r>
                <a:rPr lang="en-US" sz="2249" b="1" dirty="0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sensor inputs</a:t>
              </a:r>
              <a:r>
                <a:rPr lang="en-US" sz="2249" dirty="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and controls the servo motor, featuring 8-bit architecture and extensive interfacing capabilities.</a:t>
              </a:r>
            </a:p>
            <a:p>
              <a:pPr marL="441565" lvl="1" indent="-220782" algn="l">
                <a:lnSpc>
                  <a:spcPts val="286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45" dirty="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8 bit RISC Architecture for efficient processing</a:t>
              </a:r>
            </a:p>
            <a:p>
              <a:pPr marL="441565" lvl="1" indent="-220782" algn="l">
                <a:lnSpc>
                  <a:spcPts val="286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45" dirty="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40-pin microcontroller with multiple I/O ports</a:t>
              </a:r>
            </a:p>
            <a:p>
              <a:pPr marL="441565" lvl="1" indent="-220782" algn="l">
                <a:lnSpc>
                  <a:spcPts val="286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45" dirty="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33 programmable input/output pins</a:t>
              </a:r>
            </a:p>
            <a:p>
              <a:pPr marL="441565" lvl="1" indent="-220782" algn="l">
                <a:lnSpc>
                  <a:spcPts val="286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45" dirty="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Operating voltage: 4V – 5.5V</a:t>
              </a:r>
            </a:p>
            <a:p>
              <a:pPr marL="441565" lvl="1" indent="-220782" algn="l">
                <a:lnSpc>
                  <a:spcPts val="286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45" dirty="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Maximum clock frequency: 20 MHz</a:t>
              </a:r>
            </a:p>
            <a:p>
              <a:pPr marL="441565" lvl="1" indent="-220782" algn="l">
                <a:lnSpc>
                  <a:spcPts val="286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45" dirty="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Flash Program Memory: 8K words</a:t>
              </a:r>
            </a:p>
            <a:p>
              <a:pPr marL="441565" lvl="1" indent="-220782" algn="l">
                <a:lnSpc>
                  <a:spcPts val="286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45" dirty="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RAM: 368 bytes</a:t>
              </a:r>
            </a:p>
            <a:p>
              <a:pPr marL="441565" lvl="1" indent="-220782" algn="l">
                <a:lnSpc>
                  <a:spcPts val="286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45" dirty="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EEPROM Data Memory: 256 bytes</a:t>
              </a:r>
            </a:p>
            <a:p>
              <a:pPr marL="441565" lvl="1" indent="-220782" algn="l">
                <a:lnSpc>
                  <a:spcPts val="286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45" dirty="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Three Timers (Timer0, Timer1, Timer2) for timing operations</a:t>
              </a:r>
            </a:p>
            <a:p>
              <a:pPr marL="441565" lvl="1" indent="-220782" algn="l">
                <a:lnSpc>
                  <a:spcPts val="286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45" dirty="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Built-in PWM module (CCP) for motor control applications</a:t>
              </a:r>
            </a:p>
            <a:p>
              <a:pPr marL="441565" lvl="1" indent="-220782" algn="l">
                <a:lnSpc>
                  <a:spcPts val="286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45" dirty="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USART, SPI, and I2C communication support</a:t>
              </a:r>
            </a:p>
            <a:p>
              <a:pPr marL="441565" lvl="1" indent="-220782" algn="l">
                <a:lnSpc>
                  <a:spcPts val="286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45" dirty="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10-bit Analog-to-Digital Converter (ADC) with 8 channels</a:t>
              </a:r>
            </a:p>
            <a:p>
              <a:pPr marL="441565" lvl="1" indent="-220782" algn="l">
                <a:lnSpc>
                  <a:spcPts val="286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45" dirty="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Low power consumption</a:t>
              </a:r>
            </a:p>
            <a:p>
              <a:pPr marL="0" lvl="0" indent="0" algn="l">
                <a:lnSpc>
                  <a:spcPts val="2720"/>
                </a:lnSpc>
                <a:spcBef>
                  <a:spcPct val="0"/>
                </a:spcBef>
              </a:pPr>
              <a:endParaRPr lang="en-US" sz="2045" dirty="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41695" y="0"/>
              <a:ext cx="13017500" cy="4223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</a:pPr>
              <a:r>
                <a:rPr lang="en-US" sz="6999" spc="-139">
                  <a:solidFill>
                    <a:srgbClr val="FFFFFF"/>
                  </a:solidFill>
                  <a:latin typeface="Tenor Sans"/>
                  <a:ea typeface="Tenor Sans"/>
                  <a:cs typeface="Tenor Sans"/>
                  <a:sym typeface="Tenor Sans"/>
                </a:rPr>
                <a:t>PIC16F877A Microcontroller Overview</a:t>
              </a:r>
            </a:p>
          </p:txBody>
        </p:sp>
      </p:grpSp>
      <p:pic>
        <p:nvPicPr>
          <p:cNvPr id="8" name="Picture 7" descr="How to Use PIC16F877A: Pinouts, Specs, and Examples | Cirkit Designer">
            <a:extLst>
              <a:ext uri="{FF2B5EF4-FFF2-40B4-BE49-F238E27FC236}">
                <a16:creationId xmlns:a16="http://schemas.microsoft.com/office/drawing/2014/main" id="{3CF01911-5DC9-C89A-AAFC-74CCA8D91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2950" y="266699"/>
            <a:ext cx="5886450" cy="97536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tx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70683" y="1028700"/>
            <a:ext cx="8317317" cy="9040779"/>
          </a:xfrm>
          <a:custGeom>
            <a:avLst/>
            <a:gdLst/>
            <a:ahLst/>
            <a:cxnLst/>
            <a:rect l="l" t="t" r="r" b="b"/>
            <a:pathLst>
              <a:path w="8317317" h="9040779">
                <a:moveTo>
                  <a:pt x="0" y="0"/>
                </a:moveTo>
                <a:lnTo>
                  <a:pt x="8317317" y="0"/>
                </a:lnTo>
                <a:lnTo>
                  <a:pt x="8317317" y="9040779"/>
                </a:lnTo>
                <a:lnTo>
                  <a:pt x="0" y="90407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42875" cap="sq">
            <a:solidFill>
              <a:srgbClr val="000000"/>
            </a:solidFill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666750" y="1562100"/>
            <a:ext cx="9763125" cy="5706239"/>
            <a:chOff x="0" y="0"/>
            <a:chExt cx="13017500" cy="7608319"/>
          </a:xfrm>
        </p:grpSpPr>
        <p:sp>
          <p:nvSpPr>
            <p:cNvPr id="4" name="TextBox 4"/>
            <p:cNvSpPr txBox="1"/>
            <p:nvPr/>
          </p:nvSpPr>
          <p:spPr>
            <a:xfrm>
              <a:off x="0" y="4727729"/>
              <a:ext cx="13017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  <a:spcBef>
                  <a:spcPct val="0"/>
                </a:spcBef>
              </a:pPr>
              <a:r>
                <a:rPr lang="en-US" sz="2599" b="1">
                  <a:solidFill>
                    <a:srgbClr val="4A90E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SIGNAL FLOW OVERVIEW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5965574"/>
              <a:ext cx="13017500" cy="1642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This diagram illustrates the interactions between the </a:t>
              </a:r>
              <a:r>
                <a:rPr lang="en-US" sz="2400" b="1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IR sensor</a:t>
              </a:r>
              <a:r>
                <a:rPr lang="en-US" sz="24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</a:t>
              </a:r>
              <a:r>
                <a:rPr lang="en-US" sz="2400" b="1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PIC16F877A</a:t>
              </a:r>
              <a:r>
                <a:rPr lang="en-US" sz="24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and </a:t>
              </a:r>
              <a:r>
                <a:rPr lang="en-US" sz="2400" b="1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servo motor</a:t>
              </a:r>
              <a:r>
                <a:rPr lang="en-US" sz="24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showcasing how data flows in the system.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3017500" cy="4223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</a:pPr>
              <a:r>
                <a:rPr lang="en-US" sz="6999" spc="-139">
                  <a:solidFill>
                    <a:srgbClr val="FFFFFF"/>
                  </a:solidFill>
                  <a:latin typeface="Tenor Sans"/>
                  <a:ea typeface="Tenor Sans"/>
                  <a:cs typeface="Tenor Sans"/>
                  <a:sym typeface="Tenor Sans"/>
                </a:rPr>
                <a:t>System Block Diagram of Automatic Door Control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105025" y="1562100"/>
            <a:ext cx="14077950" cy="1055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</a:pPr>
            <a:r>
              <a:rPr lang="en-US" sz="6999" spc="-139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Control Flow Process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66750" y="5143500"/>
            <a:ext cx="5448300" cy="2962924"/>
            <a:chOff x="0" y="0"/>
            <a:chExt cx="7264400" cy="3950565"/>
          </a:xfrm>
        </p:grpSpPr>
        <p:sp>
          <p:nvSpPr>
            <p:cNvPr id="5" name="TextBox 5"/>
            <p:cNvSpPr txBox="1"/>
            <p:nvPr/>
          </p:nvSpPr>
          <p:spPr>
            <a:xfrm>
              <a:off x="0" y="-47625"/>
              <a:ext cx="72644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 b="1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OBJECT DETECTION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190220"/>
              <a:ext cx="7264400" cy="27603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IR sensor detects nearby objects by emitting infrared light and measuring the reflected signals, triggering the system's response effectively.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19850" y="5143500"/>
            <a:ext cx="5448300" cy="2543824"/>
            <a:chOff x="0" y="0"/>
            <a:chExt cx="7264400" cy="3391765"/>
          </a:xfrm>
        </p:grpSpPr>
        <p:sp>
          <p:nvSpPr>
            <p:cNvPr id="8" name="TextBox 8"/>
            <p:cNvSpPr txBox="1"/>
            <p:nvPr/>
          </p:nvSpPr>
          <p:spPr>
            <a:xfrm>
              <a:off x="0" y="-47625"/>
              <a:ext cx="72644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 b="1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MCU ACTIVATION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190220"/>
              <a:ext cx="7264400" cy="2201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Once the IR sensor detects an object, the PIC16F877A processes the signals and determines the appropriate action for the servo motor.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172950" y="5143500"/>
            <a:ext cx="5448300" cy="2543824"/>
            <a:chOff x="0" y="0"/>
            <a:chExt cx="7264400" cy="3391765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47625"/>
              <a:ext cx="72644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 b="1" dirty="0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SERVO MOTOR ACTION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190220"/>
              <a:ext cx="7264400" cy="2201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activated servo motor moves the door open and subsequently closes it after a set delay or when no further motion is detected.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1562100"/>
            <a:ext cx="9763125" cy="4704902"/>
            <a:chOff x="0" y="0"/>
            <a:chExt cx="13017500" cy="6273202"/>
          </a:xfrm>
        </p:grpSpPr>
        <p:sp>
          <p:nvSpPr>
            <p:cNvPr id="3" name="TextBox 3"/>
            <p:cNvSpPr txBox="1"/>
            <p:nvPr/>
          </p:nvSpPr>
          <p:spPr>
            <a:xfrm>
              <a:off x="0" y="3319799"/>
              <a:ext cx="13017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  <a:spcBef>
                  <a:spcPct val="0"/>
                </a:spcBef>
              </a:pPr>
              <a:r>
                <a:rPr lang="en-US" sz="2599" b="1">
                  <a:solidFill>
                    <a:srgbClr val="4A90E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HARDWARE INTEGRATION DETAILS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557644"/>
              <a:ext cx="13017500" cy="17155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This section outlines the essential </a:t>
              </a:r>
              <a:r>
                <a:rPr lang="en-US" sz="2499" b="1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hardware connections</a:t>
              </a:r>
              <a:r>
                <a:rPr lang="en-US" sz="2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required for the automatic door system, ensuring proper interaction between components.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13017500" cy="2815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</a:pPr>
              <a:r>
                <a:rPr lang="en-US" sz="6999" spc="-139">
                  <a:solidFill>
                    <a:srgbClr val="FFFFFF"/>
                  </a:solidFill>
                  <a:latin typeface="Tenor Sans"/>
                  <a:ea typeface="Tenor Sans"/>
                  <a:cs typeface="Tenor Sans"/>
                  <a:sym typeface="Tenor Sans"/>
                </a:rPr>
                <a:t>Circuit and Interfacing Connections Overview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429875" y="1265655"/>
            <a:ext cx="7597310" cy="9555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5"/>
              </a:lnSpc>
            </a:pPr>
            <a:r>
              <a:rPr lang="en-US" sz="2339" dirty="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IR Sensor Module</a:t>
            </a:r>
          </a:p>
          <a:p>
            <a:pPr algn="ctr">
              <a:lnSpc>
                <a:spcPts val="3275"/>
              </a:lnSpc>
            </a:pPr>
            <a:r>
              <a:rPr lang="en-US" sz="2339" dirty="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VCC → PIC 5V</a:t>
            </a:r>
          </a:p>
          <a:p>
            <a:pPr algn="ctr">
              <a:lnSpc>
                <a:spcPts val="3275"/>
              </a:lnSpc>
            </a:pPr>
            <a:r>
              <a:rPr lang="en-US" sz="2339" dirty="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GND → PIC GND</a:t>
            </a:r>
          </a:p>
          <a:p>
            <a:pPr algn="ctr">
              <a:lnSpc>
                <a:spcPts val="3275"/>
              </a:lnSpc>
            </a:pPr>
            <a:r>
              <a:rPr lang="en-US" sz="2339" dirty="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OUT → Pin 33 (RB0)</a:t>
            </a:r>
          </a:p>
          <a:p>
            <a:pPr algn="ctr">
              <a:lnSpc>
                <a:spcPts val="3275"/>
              </a:lnSpc>
            </a:pPr>
            <a:endParaRPr lang="en-US" sz="2339" dirty="0">
              <a:solidFill>
                <a:srgbClr val="FFFFFF"/>
              </a:solidFill>
              <a:latin typeface="Tenor Sans"/>
              <a:ea typeface="Tenor Sans"/>
              <a:cs typeface="Tenor Sans"/>
              <a:sym typeface="Tenor Sans"/>
            </a:endParaRPr>
          </a:p>
          <a:p>
            <a:pPr algn="ctr">
              <a:lnSpc>
                <a:spcPts val="3275"/>
              </a:lnSpc>
            </a:pPr>
            <a:r>
              <a:rPr lang="en-US" sz="2339" dirty="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Servo Motor</a:t>
            </a:r>
          </a:p>
          <a:p>
            <a:pPr algn="ctr">
              <a:lnSpc>
                <a:spcPts val="3275"/>
              </a:lnSpc>
            </a:pPr>
            <a:r>
              <a:rPr lang="en-US" sz="2339" dirty="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Yellow Signal Wire → Pin 17 (RC2)</a:t>
            </a:r>
          </a:p>
          <a:p>
            <a:pPr algn="ctr">
              <a:lnSpc>
                <a:spcPts val="3275"/>
              </a:lnSpc>
            </a:pPr>
            <a:r>
              <a:rPr lang="en-US" sz="2339" dirty="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Red Wire → External 5V</a:t>
            </a:r>
          </a:p>
          <a:p>
            <a:pPr algn="ctr">
              <a:lnSpc>
                <a:spcPts val="3275"/>
              </a:lnSpc>
            </a:pPr>
            <a:r>
              <a:rPr lang="en-US" sz="2339" dirty="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Black/Brown Wire → Ground</a:t>
            </a:r>
          </a:p>
          <a:p>
            <a:pPr algn="ctr">
              <a:lnSpc>
                <a:spcPts val="3275"/>
              </a:lnSpc>
            </a:pPr>
            <a:endParaRPr lang="en-US" sz="2339" dirty="0">
              <a:solidFill>
                <a:srgbClr val="FFFFFF"/>
              </a:solidFill>
              <a:latin typeface="Tenor Sans"/>
              <a:ea typeface="Tenor Sans"/>
              <a:cs typeface="Tenor Sans"/>
              <a:sym typeface="Tenor Sans"/>
            </a:endParaRPr>
          </a:p>
          <a:p>
            <a:pPr algn="ctr">
              <a:lnSpc>
                <a:spcPts val="3275"/>
              </a:lnSpc>
            </a:pPr>
            <a:r>
              <a:rPr lang="en-US" sz="2339" dirty="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I2C LCD Display</a:t>
            </a:r>
          </a:p>
          <a:p>
            <a:pPr algn="ctr">
              <a:lnSpc>
                <a:spcPts val="3275"/>
              </a:lnSpc>
            </a:pPr>
            <a:r>
              <a:rPr lang="en-US" sz="2339" dirty="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SDA → Pin 23 (RC4)</a:t>
            </a:r>
          </a:p>
          <a:p>
            <a:pPr algn="ctr">
              <a:lnSpc>
                <a:spcPts val="3275"/>
              </a:lnSpc>
            </a:pPr>
            <a:r>
              <a:rPr lang="en-US" sz="2339" dirty="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SCL → Pin 18 (RC3)</a:t>
            </a:r>
          </a:p>
          <a:p>
            <a:pPr algn="ctr">
              <a:lnSpc>
                <a:spcPts val="3695"/>
              </a:lnSpc>
            </a:pPr>
            <a:r>
              <a:rPr lang="en-US" sz="2639" dirty="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VCC → External 5V</a:t>
            </a:r>
          </a:p>
          <a:p>
            <a:pPr algn="ctr">
              <a:lnSpc>
                <a:spcPts val="3275"/>
              </a:lnSpc>
            </a:pPr>
            <a:r>
              <a:rPr lang="en-US" sz="2339" dirty="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GND → Ground</a:t>
            </a:r>
          </a:p>
          <a:p>
            <a:pPr algn="ctr">
              <a:lnSpc>
                <a:spcPts val="3275"/>
              </a:lnSpc>
            </a:pPr>
            <a:endParaRPr lang="en-US" sz="2339" dirty="0">
              <a:solidFill>
                <a:srgbClr val="FFFFFF"/>
              </a:solidFill>
              <a:latin typeface="Tenor Sans"/>
              <a:ea typeface="Tenor Sans"/>
              <a:cs typeface="Tenor Sans"/>
              <a:sym typeface="Tenor Sans"/>
            </a:endParaRPr>
          </a:p>
          <a:p>
            <a:pPr algn="ctr">
              <a:lnSpc>
                <a:spcPts val="3275"/>
              </a:lnSpc>
            </a:pPr>
            <a:r>
              <a:rPr lang="en-US" sz="2339" dirty="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Power Supply</a:t>
            </a:r>
          </a:p>
          <a:p>
            <a:pPr algn="ctr">
              <a:lnSpc>
                <a:spcPts val="3275"/>
              </a:lnSpc>
            </a:pPr>
            <a:r>
              <a:rPr lang="en-US" sz="2339" dirty="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PIC VDD Pins (Pin 11 and Pin 32) → +5V</a:t>
            </a:r>
          </a:p>
          <a:p>
            <a:pPr algn="ctr">
              <a:lnSpc>
                <a:spcPts val="3275"/>
              </a:lnSpc>
            </a:pPr>
            <a:r>
              <a:rPr lang="en-US" sz="2339" dirty="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PIC VSS Pins (Pin 12 and Pin 31) → Ground</a:t>
            </a:r>
          </a:p>
          <a:p>
            <a:pPr algn="ctr">
              <a:lnSpc>
                <a:spcPts val="14363"/>
              </a:lnSpc>
            </a:pPr>
            <a:endParaRPr lang="en-US" sz="2339" dirty="0">
              <a:solidFill>
                <a:srgbClr val="FFFFFF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81800" y="1866900"/>
            <a:ext cx="8324850" cy="1055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spc="-139" dirty="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Conclusion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477000" y="5127733"/>
            <a:ext cx="6886575" cy="2540131"/>
            <a:chOff x="0" y="0"/>
            <a:chExt cx="9182100" cy="3386842"/>
          </a:xfrm>
        </p:grpSpPr>
        <p:sp>
          <p:nvSpPr>
            <p:cNvPr id="4" name="TextBox 4"/>
            <p:cNvSpPr txBox="1"/>
            <p:nvPr/>
          </p:nvSpPr>
          <p:spPr>
            <a:xfrm>
              <a:off x="0" y="-38100"/>
              <a:ext cx="9182100" cy="5596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4A90E2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KEY INSIGHTS FROM THE PROJECT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185297"/>
              <a:ext cx="9182100" cy="2201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</a:t>
              </a:r>
              <a:r>
                <a:rPr lang="en-US" sz="2400" b="1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successful integration</a:t>
              </a:r>
              <a:r>
                <a:rPr lang="en-US" sz="24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of the IR sensor, PIC16F877A, and servo motor illustrates basic control system principles, showcasing potential for real-world implementation.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556</Words>
  <Application>Microsoft Office PowerPoint</Application>
  <PresentationFormat>Custom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Tenor Sans</vt:lpstr>
      <vt:lpstr>Arial</vt:lpstr>
      <vt:lpstr>Clear Sans Medium</vt:lpstr>
      <vt:lpstr>Calibri</vt:lpstr>
      <vt:lpstr>Clear Sans</vt:lpstr>
      <vt:lpstr>Clear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Automatic Door System</dc:title>
  <dc:description>Presentation - Automatic Door System</dc:description>
  <cp:lastModifiedBy>Abhinav Pradeep</cp:lastModifiedBy>
  <cp:revision>3</cp:revision>
  <dcterms:created xsi:type="dcterms:W3CDTF">2006-08-16T00:00:00Z</dcterms:created>
  <dcterms:modified xsi:type="dcterms:W3CDTF">2026-06-12T17:15:38Z</dcterms:modified>
  <dc:identifier>DAHC_ueEDMg</dc:identifier>
</cp:coreProperties>
</file>